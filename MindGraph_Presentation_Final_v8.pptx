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9377680" y="782320"/>
            <a:ext cx="1188720" cy="1097280"/>
          </a:xfrm>
          <a:prstGeom prst="line">
            <a:avLst/>
          </a:prstGeom>
          <a:ln w="12700">
            <a:solidFill>
              <a:srgbClr val="291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463280" y="1879600"/>
            <a:ext cx="2103120" cy="914400"/>
          </a:xfrm>
          <a:prstGeom prst="line">
            <a:avLst/>
          </a:prstGeom>
          <a:ln w="12700">
            <a:solidFill>
              <a:srgbClr val="291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63280" y="2794000"/>
            <a:ext cx="1463040" cy="914400"/>
          </a:xfrm>
          <a:prstGeom prst="line">
            <a:avLst/>
          </a:prstGeom>
          <a:ln w="12700">
            <a:solidFill>
              <a:srgbClr val="291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26320" y="3708400"/>
            <a:ext cx="1554480" cy="457200"/>
          </a:xfrm>
          <a:prstGeom prst="line">
            <a:avLst/>
          </a:prstGeom>
          <a:ln w="12700">
            <a:solidFill>
              <a:srgbClr val="291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566400" y="1879600"/>
            <a:ext cx="914400" cy="2286000"/>
          </a:xfrm>
          <a:prstGeom prst="line">
            <a:avLst/>
          </a:prstGeom>
          <a:ln w="12700">
            <a:solidFill>
              <a:srgbClr val="291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326880" y="731520"/>
            <a:ext cx="109728" cy="109728"/>
          </a:xfrm>
          <a:prstGeom prst="ellipse">
            <a:avLst/>
          </a:prstGeom>
          <a:solidFill>
            <a:srgbClr val="4B505A"/>
          </a:solidFill>
          <a:ln w="12700"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0" y="182880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0" y="2743200"/>
            <a:ext cx="109728" cy="109728"/>
          </a:xfrm>
          <a:prstGeom prst="ellipse">
            <a:avLst/>
          </a:prstGeom>
          <a:solidFill>
            <a:srgbClr val="4B505A"/>
          </a:solidFill>
          <a:ln w="12700"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75520" y="3657600"/>
            <a:ext cx="109728" cy="109728"/>
          </a:xfrm>
          <a:prstGeom prst="ellipse">
            <a:avLst/>
          </a:prstGeom>
          <a:solidFill>
            <a:srgbClr val="4B505A"/>
          </a:solidFill>
          <a:ln w="12700"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30000" y="4114800"/>
            <a:ext cx="109728" cy="109728"/>
          </a:xfrm>
          <a:prstGeom prst="ellipse">
            <a:avLst/>
          </a:prstGeom>
          <a:solidFill>
            <a:srgbClr val="4B505A"/>
          </a:solidFill>
          <a:ln w="12700">
            <a:solidFill>
              <a:srgbClr val="0A0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0" b="0">
                <a:solidFill>
                  <a:srgbClr val="F5F7FA"/>
                </a:solidFill>
                <a:latin typeface="Georgia"/>
              </a:defRPr>
            </a:pPr>
            <a:r>
              <a:t>MindGraph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487" y="4689987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i="1">
                <a:solidFill>
                  <a:srgbClr val="AAAFB9"/>
                </a:solidFill>
                <a:latin typeface="Georgia"/>
              </a:defRPr>
            </a:pPr>
            <a:r>
              <a:t>Nobody burns out overnight. It's written in your data for weeks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760720"/>
            <a:ext cx="10332720" cy="12700"/>
          </a:xfrm>
          <a:prstGeom prst="rect">
            <a:avLst/>
          </a:prstGeom>
          <a:solidFill>
            <a:srgbClr val="38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B505A"/>
                </a:solidFill>
                <a:latin typeface="Arial"/>
              </a:defRPr>
            </a:pPr>
            <a:r>
              <a:t>DARK PULSE   ·   HACKHAZARDS '26   ·   HUMAN EXPERIENCE &amp; PRODUCTIVITY TRACK</a:t>
            </a:r>
            <a:br/>
            <a:r>
              <a:t>MANOJ H.G (LEAD)   ·   DILEEP MK   ·   SNEHA   ·   CHINMAY J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0">
                <a:solidFill>
                  <a:srgbClr val="F5F7FA"/>
                </a:solidFill>
                <a:latin typeface="Georgia"/>
              </a:defRPr>
            </a:pPr>
            <a:r>
              <a:t>We stopped noticing ourselves a long time ago.</a:t>
            </a:r>
          </a:p>
          <a:p>
            <a:pPr>
              <a:defRPr sz="1450">
                <a:solidFill>
                  <a:srgbClr val="AAAFB9"/>
                </a:solidFill>
                <a:latin typeface="Arial"/>
              </a:defRPr>
            </a:pPr>
            <a:r>
              <a:t>The signs were there. We just built apps that don't talk to each other.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943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0" b="0">
                <a:solidFill>
                  <a:srgbClr val="EA580C"/>
                </a:solidFill>
                <a:latin typeface="Georgia"/>
              </a:defRPr>
            </a:pPr>
            <a:r>
              <a:rPr dirty="0"/>
              <a:t>77%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4177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87D87"/>
                </a:solidFill>
                <a:latin typeface="Arial"/>
              </a:defRPr>
            </a:pPr>
            <a:r>
              <a:rPr dirty="0"/>
              <a:t>REPORT BURNOUT SYMPTOMS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37247"/>
            <a:ext cx="5943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AAAFB9"/>
                </a:solidFill>
                <a:latin typeface="Arial"/>
              </a:defRPr>
            </a:pPr>
            <a:r>
              <a:rPr dirty="0"/>
              <a:t>Your sleep tracker knows you slept five hours. Your fitness app knows you didn't move. Your calendar knows six back-to-back calls. None of them know that together, that's the third week running.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011680"/>
            <a:ext cx="3840480" cy="502920"/>
          </a:xfrm>
          <a:prstGeom prst="roundRect">
            <a:avLst>
              <a:gd name="adj" fmla="val 4000"/>
            </a:avLst>
          </a:prstGeom>
          <a:solidFill>
            <a:srgbClr val="121620"/>
          </a:solidFill>
          <a:ln w="12700">
            <a:solidFill>
              <a:srgbClr val="212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2121408"/>
            <a:ext cx="3474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5F7FA"/>
                </a:solidFill>
                <a:latin typeface="Arial"/>
              </a:defRPr>
            </a:pPr>
            <a:r>
              <a:t>SLEEP TRACKER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0235" y="2514600"/>
            <a:ext cx="19050" cy="685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0" y="3200400"/>
            <a:ext cx="3840480" cy="502920"/>
          </a:xfrm>
          <a:prstGeom prst="roundRect">
            <a:avLst>
              <a:gd name="adj" fmla="val 4000"/>
            </a:avLst>
          </a:prstGeom>
          <a:solidFill>
            <a:srgbClr val="121620"/>
          </a:solidFill>
          <a:ln w="12700">
            <a:solidFill>
              <a:srgbClr val="212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3310128"/>
            <a:ext cx="3474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5F7FA"/>
                </a:solidFill>
                <a:latin typeface="Arial"/>
              </a:defRPr>
            </a:pPr>
            <a:r>
              <a:t>MOVEMENT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0235" y="3703320"/>
            <a:ext cx="19050" cy="685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89520" y="4389120"/>
            <a:ext cx="3840480" cy="502920"/>
          </a:xfrm>
          <a:prstGeom prst="roundRect">
            <a:avLst>
              <a:gd name="adj" fmla="val 4000"/>
            </a:avLst>
          </a:prstGeom>
          <a:solidFill>
            <a:srgbClr val="121620"/>
          </a:solidFill>
          <a:ln w="12700">
            <a:solidFill>
              <a:srgbClr val="212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4498848"/>
            <a:ext cx="3474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F5F7FA"/>
                </a:solidFill>
                <a:latin typeface="Arial"/>
              </a:defRPr>
            </a:pPr>
            <a:r>
              <a:t>CALENDAR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i="1">
                <a:solidFill>
                  <a:srgbClr val="AAAFB9"/>
                </a:solidFill>
                <a:latin typeface="Georgia"/>
              </a:defRPr>
            </a:pPr>
            <a:r>
              <a:t>The data to predict this already exists. It's just scattered across four apps that don't speak.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0">
                <a:solidFill>
                  <a:srgbClr val="F5F7FA"/>
                </a:solidFill>
                <a:latin typeface="Georgia"/>
              </a:defRPr>
            </a:pPr>
            <a:r>
              <a:t>What if your habits could tell on each other?</a:t>
            </a:r>
          </a:p>
          <a:p>
            <a:pPr>
              <a:defRPr sz="1450">
                <a:solidFill>
                  <a:srgbClr val="AAAFB9"/>
                </a:solidFill>
                <a:latin typeface="Arial"/>
              </a:defRPr>
            </a:pPr>
            <a:r>
              <a:t>MindGraph treats your life like it actually is — one connected system, not four separate apps.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77440" y="3200400"/>
            <a:ext cx="7315200" cy="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103120"/>
            <a:ext cx="3291840" cy="3108960"/>
          </a:xfrm>
          <a:prstGeom prst="roundRect">
            <a:avLst>
              <a:gd name="adj" fmla="val 4000"/>
            </a:avLst>
          </a:prstGeom>
          <a:solidFill>
            <a:srgbClr val="121620"/>
          </a:solidFill>
          <a:ln w="12700">
            <a:solidFill>
              <a:srgbClr val="212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731520" cy="228600"/>
          </a:xfrm>
          <a:prstGeom prst="roundRect">
            <a:avLst>
              <a:gd name="adj" fmla="val 50000"/>
            </a:avLst>
          </a:prstGeom>
          <a:solidFill>
            <a:srgbClr val="29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8B5CF6"/>
                </a:solidFill>
                <a:latin typeface="Arial"/>
              </a:defRPr>
            </a:pPr>
            <a:r>
              <a:t>01 /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F7FA"/>
                </a:solidFill>
                <a:latin typeface="Arial"/>
              </a:defRPr>
            </a:pPr>
            <a:r>
              <a:t>30 seconds</a:t>
            </a:r>
          </a:p>
          <a:p>
            <a:pPr>
              <a:defRPr sz="1250">
                <a:solidFill>
                  <a:srgbClr val="AAAFB9"/>
                </a:solidFill>
                <a:latin typeface="Arial"/>
              </a:defRPr>
            </a:pPr>
            <a:r>
              <a:t>A 30-second daily log: sleep, mood, energy. Offline-first client cache ensures entries are preserved.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3108960"/>
          </a:xfrm>
          <a:prstGeom prst="roundRect">
            <a:avLst>
              <a:gd name="adj" fmla="val 4000"/>
            </a:avLst>
          </a:prstGeom>
          <a:solidFill>
            <a:srgbClr val="12162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1005840" cy="228600"/>
          </a:xfrm>
          <a:prstGeom prst="roundRect">
            <a:avLst>
              <a:gd name="adj" fmla="val 50000"/>
            </a:avLst>
          </a:prstGeom>
          <a:solidFill>
            <a:srgbClr val="29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8B5CF6"/>
                </a:solidFill>
                <a:latin typeface="Arial"/>
              </a:defRPr>
            </a:pPr>
            <a:r>
              <a:t>02 /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F7FA"/>
                </a:solidFill>
                <a:latin typeface="Arial"/>
              </a:defRPr>
            </a:pPr>
            <a:r>
              <a:t>Connected Node Graph</a:t>
            </a:r>
          </a:p>
          <a:p>
            <a:pPr>
              <a:defRPr sz="1250">
                <a:solidFill>
                  <a:srgbClr val="AAAFB9"/>
                </a:solidFill>
                <a:latin typeface="Arial"/>
              </a:defRPr>
            </a:pPr>
            <a:r>
              <a:t>Every entry becomes a node. Not stored — related, to yesterday, to your patterns.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84420" y="4518660"/>
            <a:ext cx="731520" cy="22860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615940" y="4427220"/>
            <a:ext cx="640080" cy="32004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56020" y="4427220"/>
            <a:ext cx="548640" cy="27432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804660" y="4472940"/>
            <a:ext cx="548640" cy="22860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615940" y="4701540"/>
            <a:ext cx="1188720" cy="4572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846320" y="4480560"/>
            <a:ext cx="91440" cy="91440"/>
          </a:xfrm>
          <a:prstGeom prst="ellipse">
            <a:avLst/>
          </a:prstGeom>
          <a:solidFill>
            <a:srgbClr val="8B5CF6"/>
          </a:solidFill>
          <a:ln w="9525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577840" y="4709160"/>
            <a:ext cx="91440" cy="91440"/>
          </a:xfrm>
          <a:prstGeom prst="ellipse">
            <a:avLst/>
          </a:prstGeom>
          <a:solidFill>
            <a:srgbClr val="8B5CF6"/>
          </a:solidFill>
          <a:ln w="9525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17920" y="4389120"/>
            <a:ext cx="91440" cy="91440"/>
          </a:xfrm>
          <a:prstGeom prst="ellipse">
            <a:avLst/>
          </a:prstGeom>
          <a:solidFill>
            <a:srgbClr val="8B5CF6"/>
          </a:solidFill>
          <a:ln w="9525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766560" y="4663440"/>
            <a:ext cx="91440" cy="91440"/>
          </a:xfrm>
          <a:prstGeom prst="ellipse">
            <a:avLst/>
          </a:prstGeom>
          <a:solidFill>
            <a:srgbClr val="8B5CF6"/>
          </a:solidFill>
          <a:ln w="9525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0" y="4434840"/>
            <a:ext cx="91440" cy="91440"/>
          </a:xfrm>
          <a:prstGeom prst="ellipse">
            <a:avLst/>
          </a:prstGeom>
          <a:solidFill>
            <a:srgbClr val="8B5CF6"/>
          </a:solidFill>
          <a:ln w="9525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20" y="2103120"/>
            <a:ext cx="3291840" cy="3108960"/>
          </a:xfrm>
          <a:prstGeom prst="roundRect">
            <a:avLst>
              <a:gd name="adj" fmla="val 4000"/>
            </a:avLst>
          </a:prstGeom>
          <a:solidFill>
            <a:srgbClr val="121620"/>
          </a:solidFill>
          <a:ln w="12700">
            <a:solidFill>
              <a:srgbClr val="212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0" y="2286000"/>
            <a:ext cx="822960" cy="228600"/>
          </a:xfrm>
          <a:prstGeom prst="roundRect">
            <a:avLst>
              <a:gd name="adj" fmla="val 50000"/>
            </a:avLst>
          </a:prstGeom>
          <a:solidFill>
            <a:srgbClr val="29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8B5CF6"/>
                </a:solidFill>
                <a:latin typeface="Arial"/>
              </a:defRPr>
            </a:pPr>
            <a:r>
              <a:t>03 /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5176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F7FA"/>
                </a:solidFill>
                <a:latin typeface="Arial"/>
              </a:defRPr>
            </a:pPr>
            <a:r>
              <a:t>Burnout Risk — Live</a:t>
            </a:r>
          </a:p>
          <a:p>
            <a:pPr>
              <a:defRPr sz="1250">
                <a:solidFill>
                  <a:srgbClr val="AAAFB9"/>
                </a:solidFill>
                <a:latin typeface="Arial"/>
              </a:defRPr>
            </a:pPr>
            <a:r>
              <a:t>Output: a live Burnout Risk Gauge, running BIS Score, and coaching notes that remember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0">
                <a:solidFill>
                  <a:srgbClr val="F5F7FA"/>
                </a:solidFill>
                <a:latin typeface="Georgia"/>
              </a:defRPr>
            </a:pPr>
            <a:r>
              <a:t>Nothing about this is a toy demo.</a:t>
            </a:r>
          </a:p>
          <a:p>
            <a:pPr>
              <a:defRPr sz="1450">
                <a:solidFill>
                  <a:srgbClr val="AAAFB9"/>
                </a:solidFill>
                <a:latin typeface="Arial"/>
              </a:defRPr>
            </a:pPr>
            <a:r>
              <a:t>The stack exists because relationships need a database built for relationships.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100584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5F7FA"/>
                </a:solidFill>
                <a:latin typeface="Consolas"/>
              </a:defRPr>
            </a:pPr>
            <a:r>
              <a:t>INTELLIGENCE LAYER</a:t>
            </a:r>
          </a:p>
          <a:p>
            <a:pPr>
              <a:defRPr sz="1400" b="1">
                <a:solidFill>
                  <a:srgbClr val="F5F7FA"/>
                </a:solidFill>
                <a:latin typeface="Arial"/>
              </a:defRPr>
            </a:pPr>
            <a:r>
              <a:t>GPT-4 Wellness 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474720" cy="1280160"/>
          </a:xfrm>
          <a:prstGeom prst="roundRect">
            <a:avLst>
              <a:gd name="adj" fmla="val 4000"/>
            </a:avLst>
          </a:prstGeom>
          <a:solidFill>
            <a:srgbClr val="1D17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AFB9"/>
                </a:solidFill>
                <a:latin typeface="Consolas"/>
              </a:defRPr>
            </a:pPr>
            <a:r>
              <a:t>GRAPH ENGINE</a:t>
            </a:r>
          </a:p>
          <a:p>
            <a:pPr>
              <a:defRPr sz="1400" b="1">
                <a:solidFill>
                  <a:srgbClr val="F5F7FA"/>
                </a:solidFill>
                <a:latin typeface="Arial"/>
              </a:defRPr>
            </a:pPr>
            <a:r>
              <a:t>Node.js + Neo4j AuraDB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474720" cy="1645920"/>
          </a:xfrm>
          <a:prstGeom prst="roundRect">
            <a:avLst>
              <a:gd name="adj" fmla="val 4000"/>
            </a:avLst>
          </a:prstGeom>
          <a:solidFill>
            <a:srgbClr val="121620"/>
          </a:solidFill>
          <a:ln w="12700">
            <a:solidFill>
              <a:srgbClr val="212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3108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AAFB9"/>
                </a:solidFill>
                <a:latin typeface="Consolas"/>
              </a:defRPr>
            </a:pPr>
            <a:r>
              <a:t>CLIENT INTERFACE</a:t>
            </a:r>
          </a:p>
          <a:p>
            <a:pPr>
              <a:defRPr sz="1400" b="1">
                <a:solidFill>
                  <a:srgbClr val="F5F7FA"/>
                </a:solidFill>
                <a:latin typeface="Arial"/>
              </a:defRPr>
            </a:pPr>
            <a:r>
              <a:t>Expo + React 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AAFB9"/>
                </a:solidFill>
                <a:latin typeface="Arial"/>
              </a:defRPr>
            </a:pPr>
            <a:r>
              <a:t>Intelligence — GPT-4 reads the graph itself, not a single entry — a coaching note can reference three weeks of continuous data, not just today's mood.</a:t>
            </a:r>
          </a:p>
          <a:p>
            <a:pPr>
              <a:spcBef>
                <a:spcPts val="300"/>
              </a:spcBef>
              <a:defRPr sz="950" b="1">
                <a:solidFill>
                  <a:srgbClr val="787D87"/>
                </a:solidFill>
                <a:latin typeface="Consolas"/>
              </a:defRPr>
            </a:pPr>
            <a:r>
              <a:t>openai-api  ·  gpt-4  ·  gpt-3.5-turbo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AAFB9"/>
                </a:solidFill>
                <a:latin typeface="Arial"/>
              </a:defRPr>
            </a:pPr>
            <a:r>
              <a:t>Engine — Node.js/Express backend writing directly into Neo4j AuraDB in Cypher. Habits aren't rows in a table. They're edges.</a:t>
            </a:r>
          </a:p>
          <a:p>
            <a:pPr>
              <a:spcBef>
                <a:spcPts val="300"/>
              </a:spcBef>
              <a:defRPr sz="950" b="1">
                <a:solidFill>
                  <a:srgbClr val="787D87"/>
                </a:solidFill>
                <a:latin typeface="Consolas"/>
              </a:defRPr>
            </a:pPr>
            <a:r>
              <a:t>neo4j-auradb  ·  cypher-query-language  ·  express.js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AAFB9"/>
                </a:solidFill>
                <a:latin typeface="Arial"/>
              </a:defRPr>
            </a:pPr>
            <a:r>
              <a:t>Client — Expo + React Native 0.85, TypeScript 6.0. Offline-first: log a bad day with no signal, sync later through AsyncStorage.</a:t>
            </a:r>
          </a:p>
          <a:p>
            <a:pPr>
              <a:spcBef>
                <a:spcPts val="300"/>
              </a:spcBef>
              <a:defRPr sz="950" b="1">
                <a:solidFill>
                  <a:srgbClr val="787D87"/>
                </a:solidFill>
                <a:latin typeface="Consolas"/>
              </a:defRPr>
            </a:pPr>
            <a:r>
              <a:t>expo-sdk-56  ·  react-native-0.85  ·  async-storage  ·  typescript-6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06240" y="2331720"/>
            <a:ext cx="228600" cy="0"/>
          </a:xfrm>
          <a:prstGeom prst="line">
            <a:avLst/>
          </a:prstGeom>
          <a:ln w="12700">
            <a:solidFill>
              <a:srgbClr val="4B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06240" y="3474720"/>
            <a:ext cx="228600" cy="0"/>
          </a:xfrm>
          <a:prstGeom prst="line">
            <a:avLst/>
          </a:prstGeom>
          <a:ln w="12700">
            <a:solidFill>
              <a:srgbClr val="4B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06240" y="4983480"/>
            <a:ext cx="228600" cy="0"/>
          </a:xfrm>
          <a:prstGeom prst="line">
            <a:avLst/>
          </a:prstGeom>
          <a:ln w="12700">
            <a:solidFill>
              <a:srgbClr val="4B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0">
                <a:solidFill>
                  <a:srgbClr val="F5F7FA"/>
                </a:solidFill>
                <a:latin typeface="Georgia"/>
              </a:defRPr>
            </a:pPr>
            <a:r>
              <a:t>This is what a pattern looks like once you can see it.</a:t>
            </a:r>
          </a:p>
          <a:p>
            <a:pPr>
              <a:defRPr sz="1450">
                <a:solidFill>
                  <a:srgbClr val="AAAFB9"/>
                </a:solidFill>
                <a:latin typeface="Arial"/>
              </a:defRPr>
            </a:pPr>
            <a:r>
              <a:t>A real query, running against a real graph.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821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21620"/>
          </a:solidFill>
          <a:ln w="12700">
            <a:solidFill>
              <a:srgbClr val="212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4865000"/>
            <a:ext cx="1097280" cy="228600"/>
          </a:xfrm>
          <a:prstGeom prst="roundRect">
            <a:avLst>
              <a:gd name="adj" fmla="val 50000"/>
            </a:avLst>
          </a:prstGeom>
          <a:solidFill>
            <a:srgbClr val="29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8B5CF6"/>
                </a:solidFill>
                <a:latin typeface="Arial"/>
              </a:defRPr>
            </a:pPr>
            <a:r>
              <a:t>OS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18504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Georgia"/>
              </a:defRPr>
            </a:pPr>
            <a:r>
              <a:t>BIS Grade: B  (Score: 73%)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73368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AAAFB9"/>
                </a:solidFill>
                <a:latin typeface="Arial"/>
              </a:defRPr>
            </a:pPr>
            <a:r>
              <a:t>Formula: 20% Mood + 20% Sleep (vs 8h) + 20% Consistency + 20% Productivity + 20% Stress. Recalculated live to warn before physical burnout.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6821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21620"/>
          </a:solidFill>
          <a:ln w="12700">
            <a:solidFill>
              <a:srgbClr val="2129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37960" y="4865000"/>
            <a:ext cx="1280160" cy="228600"/>
          </a:xfrm>
          <a:prstGeom prst="roundRect">
            <a:avLst>
              <a:gd name="adj" fmla="val 50000"/>
            </a:avLst>
          </a:prstGeom>
          <a:solidFill>
            <a:srgbClr val="29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8B5CF6"/>
                </a:solidFill>
                <a:latin typeface="Arial"/>
              </a:defRPr>
            </a:pPr>
            <a:r>
              <a:t>NEO4J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1850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Consolas"/>
              </a:defRPr>
            </a:pPr>
            <a:r>
              <a:t>Sleep ➔ Mood ➔ Productivity  (+66 pts)</a:t>
            </a:r>
            <a:br/>
            <a:r>
              <a:t>Stress ➔ Sleep Deprivation ➔ Burnout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73368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AAFB9"/>
                </a:solidFill>
                <a:latin typeface="Arial"/>
              </a:defRPr>
            </a:pPr>
            <a:r>
              <a:t>Three weeks of bad sleep doesn't sit in a table row. It traces a path straight to the score.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61908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D87"/>
                </a:solidFill>
                <a:latin typeface="Consolas"/>
              </a:defRPr>
            </a:pPr>
            <a:r>
              <a:t>MATCH (u:User)-[:SLEPT]-&gt;(s:Sleep) MATCH (u)-[:LOGGED]-&gt;(m:Mood {date: s.date})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A3786C-7CC1-2372-42BC-4ADAE3A14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1" y="1563329"/>
            <a:ext cx="3765755" cy="25701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78A2E46-2071-FC15-AD99-D51D06661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206" y="1563330"/>
            <a:ext cx="3834581" cy="25701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ECB5506-727E-1DAE-ECB5-469CEC63A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587" y="1563328"/>
            <a:ext cx="3706761" cy="25701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0">
                <a:solidFill>
                  <a:srgbClr val="F5F7FA"/>
                </a:solidFill>
                <a:latin typeface="Georgia"/>
              </a:defRPr>
            </a:pPr>
            <a:r>
              <a:t>Intercept burnout before it peaks.</a:t>
            </a:r>
          </a:p>
          <a:p>
            <a:pPr>
              <a:defRPr sz="1450">
                <a:solidFill>
                  <a:srgbClr val="AAAFB9"/>
                </a:solidFill>
                <a:latin typeface="Arial"/>
              </a:defRPr>
            </a:pPr>
            <a:r>
              <a:t>The twelve weeks of warning nobody currently gets.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1234440" y="2148840"/>
            <a:ext cx="1417320" cy="1417320"/>
          </a:xfrm>
          <a:prstGeom prst="line">
            <a:avLst/>
          </a:prstGeom>
          <a:ln w="19050">
            <a:solidFill>
              <a:srgbClr val="291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651760" y="2148840"/>
            <a:ext cx="1417320" cy="1417320"/>
          </a:xfrm>
          <a:prstGeom prst="line">
            <a:avLst/>
          </a:prstGeom>
          <a:ln w="19050">
            <a:solidFill>
              <a:srgbClr val="291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234440" y="3566160"/>
            <a:ext cx="1417320" cy="1417320"/>
          </a:xfrm>
          <a:prstGeom prst="line">
            <a:avLst/>
          </a:prstGeom>
          <a:ln w="19050">
            <a:solidFill>
              <a:srgbClr val="291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51760" y="3566160"/>
            <a:ext cx="1417320" cy="1417320"/>
          </a:xfrm>
          <a:prstGeom prst="line">
            <a:avLst/>
          </a:prstGeom>
          <a:ln w="19050">
            <a:solidFill>
              <a:srgbClr val="291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1645920"/>
            <a:ext cx="1005840" cy="1005840"/>
          </a:xfrm>
          <a:prstGeom prst="ellipse">
            <a:avLst/>
          </a:prstGeom>
          <a:solidFill>
            <a:srgbClr val="121620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100" b="1">
                <a:solidFill>
                  <a:srgbClr val="AAAFB9"/>
                </a:solidFill>
                <a:latin typeface="Arial"/>
              </a:defRPr>
            </a:pPr>
            <a:r>
              <a:t>Sleep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1645920"/>
            <a:ext cx="1005840" cy="1005840"/>
          </a:xfrm>
          <a:prstGeom prst="ellipse">
            <a:avLst/>
          </a:prstGeom>
          <a:solidFill>
            <a:srgbClr val="121620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100" b="1">
                <a:solidFill>
                  <a:srgbClr val="AAAFB9"/>
                </a:solidFill>
                <a:latin typeface="Arial"/>
              </a:defRPr>
            </a:pPr>
            <a:r>
              <a:t>Mood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480560"/>
            <a:ext cx="1005840" cy="1005840"/>
          </a:xfrm>
          <a:prstGeom prst="ellipse">
            <a:avLst/>
          </a:prstGeom>
          <a:solidFill>
            <a:srgbClr val="121620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100" b="1">
                <a:solidFill>
                  <a:srgbClr val="AAAFB9"/>
                </a:solidFill>
                <a:latin typeface="Arial"/>
              </a:defRPr>
            </a:pPr>
            <a:r>
              <a:t>Stress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4480560"/>
            <a:ext cx="1005840" cy="1005840"/>
          </a:xfrm>
          <a:prstGeom prst="ellipse">
            <a:avLst/>
          </a:prstGeom>
          <a:solidFill>
            <a:srgbClr val="121620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100" b="1">
                <a:solidFill>
                  <a:srgbClr val="AAAFB9"/>
                </a:solidFill>
                <a:latin typeface="Arial"/>
              </a:defRPr>
            </a:pPr>
            <a:r>
              <a:t>Habits</a:t>
            </a:r>
          </a:p>
        </p:txBody>
      </p:sp>
      <p:sp>
        <p:nvSpPr>
          <p:cNvPr id="12" name="Oval 11"/>
          <p:cNvSpPr/>
          <p:nvPr/>
        </p:nvSpPr>
        <p:spPr>
          <a:xfrm>
            <a:off x="2103120" y="3017520"/>
            <a:ext cx="1097280" cy="109728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F5F7FA"/>
                </a:solidFill>
                <a:latin typeface="Georgia"/>
              </a:defRPr>
            </a:pPr>
            <a:r>
              <a:t>Mind</a:t>
            </a:r>
            <a:br/>
            <a:r>
              <a:t>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418794"/>
            <a:ext cx="5943600" cy="4023360"/>
          </a:xfrm>
          <a:prstGeom prst="roundRect">
            <a:avLst>
              <a:gd name="adj" fmla="val 4000"/>
            </a:avLst>
          </a:prstGeom>
          <a:solidFill>
            <a:srgbClr val="12162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1693114"/>
            <a:ext cx="5394960" cy="23211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050" b="1">
                <a:solidFill>
                  <a:srgbClr val="8B5CF6"/>
                </a:solidFill>
                <a:latin typeface="Consolas"/>
              </a:defRPr>
            </a:pPr>
            <a:r>
              <a:rPr dirty="0"/>
              <a:t>TEAM DARK PULSE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  <a:latin typeface="Arial"/>
              </a:defRPr>
            </a:pPr>
            <a:r>
              <a:rPr dirty="0"/>
              <a:t>Manoj H.G (Lead)   ·   manojhg321@gmail.com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  <a:latin typeface="Arial"/>
              </a:defRPr>
            </a:pPr>
            <a:r>
              <a:rPr dirty="0"/>
              <a:t>Dileep MK   ·   dileep.m.k126@gmail.com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  <a:latin typeface="Arial"/>
              </a:defRPr>
            </a:pPr>
            <a:r>
              <a:rPr dirty="0"/>
              <a:t>Sneha   ·   acharyasneha2005@gmail.com</a:t>
            </a:r>
          </a:p>
          <a:p>
            <a:pPr>
              <a:spcAft>
                <a:spcPts val="800"/>
              </a:spcAft>
              <a:defRPr sz="1300">
                <a:solidFill>
                  <a:srgbClr val="F5F7FA"/>
                </a:solidFill>
                <a:latin typeface="Arial"/>
              </a:defRPr>
            </a:pPr>
            <a:r>
              <a:rPr dirty="0"/>
              <a:t>Chinmay J C   ·   chinmaychoudhari620@gmail.com</a:t>
            </a:r>
          </a:p>
          <a:p>
            <a:br>
              <a:rPr dirty="0"/>
            </a:br>
            <a:r>
              <a:rPr dirty="0">
                <a:solidFill>
                  <a:schemeClr val="bg1">
                    <a:lumMod val="85000"/>
                  </a:schemeClr>
                </a:solidFill>
              </a:rPr>
              <a:t>REPOSITORY: github.com/sneha-s2005/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MindGraph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 sz="1050" b="1">
                <a:solidFill>
                  <a:srgbClr val="787D87"/>
                </a:solidFill>
                <a:latin typeface="Consolas"/>
              </a:defRPr>
            </a:pPr>
            <a:r>
              <a:rPr sz="1400" dirty="0">
                <a:solidFill>
                  <a:schemeClr val="bg1">
                    <a:lumMod val="75000"/>
                  </a:schemeClr>
                </a:solidFill>
              </a:rPr>
              <a:t>LIVE DEPLOYMENT: mindgraph-app.onrender.com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i="1">
                <a:solidFill>
                  <a:srgbClr val="AAAFB9"/>
                </a:solidFill>
                <a:latin typeface="Georgia"/>
              </a:defRPr>
            </a:pPr>
            <a:r>
              <a:rPr dirty="0"/>
              <a:t>Nobody burns out overnight. It's written in your data for weeks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608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Anuj Kumar</cp:lastModifiedBy>
  <cp:revision>2</cp:revision>
  <dcterms:created xsi:type="dcterms:W3CDTF">2013-01-27T09:14:16Z</dcterms:created>
  <dcterms:modified xsi:type="dcterms:W3CDTF">2026-07-10T13:38:43Z</dcterms:modified>
  <cp:category/>
</cp:coreProperties>
</file>